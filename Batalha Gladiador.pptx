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ontserrat SemiBold"/>
      <p:regular r:id="rId9"/>
      <p:bold r:id="rId10"/>
      <p:italic r:id="rId11"/>
      <p:boldItalic r:id="rId12"/>
    </p:embeddedFont>
    <p:embeddedFont>
      <p:font typeface="Montserrat"/>
      <p:bold r:id="rId13"/>
      <p:boldItalic r:id="rId14"/>
    </p:embeddedFont>
    <p:embeddedFont>
      <p:font typeface="Montserrat ExtraBold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SemiBold-italic.fntdata"/><Relationship Id="rId10" Type="http://schemas.openxmlformats.org/officeDocument/2006/relationships/font" Target="fonts/MontserratSemiBold-bold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regular.fntdata"/><Relationship Id="rId15" Type="http://schemas.openxmlformats.org/officeDocument/2006/relationships/font" Target="fonts/MontserratExtraBold-bold.fntdata"/><Relationship Id="rId14" Type="http://schemas.openxmlformats.org/officeDocument/2006/relationships/font" Target="fonts/Montserrat-boldItalic.fntdata"/><Relationship Id="rId16" Type="http://schemas.openxmlformats.org/officeDocument/2006/relationships/font" Target="fonts/Montserrat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a2f6087a2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a2f6087a2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2f6087a2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a2f6087a2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a2f6087a2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a2f6087a2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2f6087a2_10_0)">
  <p:cSld name="Generated (g3fa2f6087a2_10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crumpled and creased paper poster texture background (Fornecido por Getty Images)" id="55" name="Google Shape;5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571500" y="571425"/>
            <a:ext cx="8001000" cy="666825"/>
            <a:chOff x="0" y="0"/>
            <a:chExt cx="8001000" cy="666825"/>
          </a:xfrm>
        </p:grpSpPr>
        <p:sp>
          <p:nvSpPr>
            <p:cNvPr id="57" name="Google Shape;57;p14"/>
            <p:cNvSpPr txBox="1"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38761D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Batalha de Gladiadores</a:t>
              </a:r>
              <a:endParaRPr b="0" sz="1200">
                <a:solidFill>
                  <a:srgbClr val="38761D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0" y="238125"/>
              <a:ext cx="800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2400">
                  <a:solidFill>
                    <a:srgbClr val="134F5C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Schema Principal: Sistema de Gladiadores</a:t>
              </a:r>
              <a:endParaRPr b="0" sz="2400">
                <a:solidFill>
                  <a:srgbClr val="134F5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59" name="Google Shape;59;p14"/>
          <p:cNvGrpSpPr/>
          <p:nvPr/>
        </p:nvGrpSpPr>
        <p:grpSpPr>
          <a:xfrm>
            <a:off x="3371850" y="1238250"/>
            <a:ext cx="2400300" cy="1533525"/>
            <a:chOff x="-9525" y="-95250"/>
            <a:chExt cx="2400300" cy="1533525"/>
          </a:xfrm>
        </p:grpSpPr>
        <p:pic>
          <p:nvPicPr>
            <p:cNvPr id="60" name="Google Shape;60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24003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14"/>
            <p:cNvSpPr/>
            <p:nvPr/>
          </p:nvSpPr>
          <p:spPr>
            <a:xfrm>
              <a:off x="142875" y="-95250"/>
              <a:ext cx="1238400" cy="190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190500" y="-762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ENTIDADE</a:t>
              </a:r>
              <a:endParaRPr b="1"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142875" y="139563"/>
              <a:ext cx="2095500" cy="122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53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Gladiadores</a:t>
              </a:r>
              <a:endParaRPr b="1" sz="853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Personagens montados pelo próprio usuário gastando uma quantia de Créditos. Gladiadores possuem descrições feitas pelo usuário e atributos de luta completamente aleatórios</a:t>
              </a:r>
              <a:b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b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Atributos customizáveis</a:t>
              </a:r>
              <a:br>
                <a:rPr b="0" lang="pt-BR" sz="736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Status: [Ativo / Morto]</a:t>
              </a:r>
              <a:br>
                <a:rPr b="0" lang="pt-BR" sz="736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Vínculo direto com Usuário</a:t>
              </a:r>
              <a:endParaRPr b="0" sz="736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736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36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6181725" y="3095625"/>
            <a:ext cx="2400300" cy="1533525"/>
            <a:chOff x="-9525" y="-95250"/>
            <a:chExt cx="2400300" cy="1533525"/>
          </a:xfrm>
        </p:grpSpPr>
        <p:pic>
          <p:nvPicPr>
            <p:cNvPr id="65" name="Google Shape;65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9525" y="-9525"/>
              <a:ext cx="24003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4"/>
            <p:cNvSpPr/>
            <p:nvPr/>
          </p:nvSpPr>
          <p:spPr>
            <a:xfrm>
              <a:off x="142875" y="-95250"/>
              <a:ext cx="1238400" cy="190500"/>
            </a:xfrm>
            <a:prstGeom prst="roundRect">
              <a:avLst>
                <a:gd fmla="val 2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190500" y="-762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PERFORMANCE</a:t>
              </a:r>
              <a:endParaRPr b="1" sz="8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142875" y="238125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53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Lista de Registros</a:t>
              </a:r>
              <a:endParaRPr b="1" sz="853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Geração automatizada de relatórios competitivos pós-partida </a:t>
              </a:r>
              <a:r>
                <a:rPr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 </a:t>
              </a:r>
              <a:r>
                <a:rPr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Usuário</a:t>
              </a:r>
              <a:r>
                <a:rPr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ou Gladiador</a:t>
              </a:r>
              <a: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b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b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Ranking de desem</a:t>
              </a:r>
              <a:r>
                <a:rPr lang="pt-BR" sz="736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penho</a:t>
              </a:r>
              <a:br>
                <a:rPr b="0" lang="pt-BR" sz="736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Histórico de combates</a:t>
              </a:r>
              <a:br>
                <a:rPr b="0" lang="pt-BR" sz="736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Estatísticas de vitórias </a:t>
              </a:r>
              <a:endParaRPr b="0" sz="736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3371850" y="3148175"/>
            <a:ext cx="2400300" cy="1533525"/>
            <a:chOff x="-9525" y="-95250"/>
            <a:chExt cx="2400300" cy="1533525"/>
          </a:xfrm>
        </p:grpSpPr>
        <p:pic>
          <p:nvPicPr>
            <p:cNvPr id="70" name="Google Shape;70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9525" y="-9525"/>
              <a:ext cx="24003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4"/>
            <p:cNvSpPr/>
            <p:nvPr/>
          </p:nvSpPr>
          <p:spPr>
            <a:xfrm>
              <a:off x="142875" y="-95250"/>
              <a:ext cx="1238400" cy="190500"/>
            </a:xfrm>
            <a:prstGeom prst="roundRect">
              <a:avLst>
                <a:gd fmla="val 2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190500" y="-762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CICLO DE VIDA</a:t>
              </a:r>
              <a:endParaRPr b="1" sz="8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142875" y="238125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53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Edição &amp; Exclusão</a:t>
              </a:r>
              <a:endParaRPr b="1" sz="853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Controle de atividade dos combatentes.</a:t>
              </a:r>
              <a:b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b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</a:t>
              </a:r>
              <a:r>
                <a:rPr b="0" lang="pt-BR" sz="736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Atualização:</a:t>
              </a:r>
              <a: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Modificar </a:t>
              </a:r>
              <a:r>
                <a:rPr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descrição</a:t>
              </a:r>
              <a:r>
                <a:rPr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do Gladiador</a:t>
              </a:r>
              <a: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b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</a:t>
              </a:r>
              <a:r>
                <a:rPr b="0" lang="pt-BR" sz="736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Exclusão (Morte):</a:t>
              </a:r>
              <a: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O gladiador é dado como morto e retirado do fluxo ativo do usuário. Ou pode ser retirado pel</a:t>
              </a:r>
              <a:r>
                <a:rPr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 usuário depois de criado.</a:t>
              </a:r>
              <a:endParaRPr b="0" sz="736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6181725" y="1281113"/>
            <a:ext cx="2400300" cy="1533525"/>
            <a:chOff x="-9525" y="-95250"/>
            <a:chExt cx="2400300" cy="1533525"/>
          </a:xfrm>
        </p:grpSpPr>
        <p:pic>
          <p:nvPicPr>
            <p:cNvPr id="75" name="Google Shape;75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-9525" y="-9525"/>
              <a:ext cx="2400300" cy="14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4"/>
            <p:cNvSpPr/>
            <p:nvPr/>
          </p:nvSpPr>
          <p:spPr>
            <a:xfrm>
              <a:off x="142875" y="-95250"/>
              <a:ext cx="1238400" cy="190500"/>
            </a:xfrm>
            <a:prstGeom prst="roundRect">
              <a:avLst>
                <a:gd fmla="val 2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190500" y="-762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Batalha</a:t>
              </a:r>
              <a:endParaRPr b="1" sz="8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142875" y="238125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53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combate</a:t>
              </a:r>
              <a:endParaRPr b="1" sz="853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Durante um combate, de forma aleatória o Gladiador pode perder ou vencer. Caso perca seu status &gt; MORTO. Caso vença Ganha Créditos </a:t>
              </a:r>
              <a:b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b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Lutas (Vencidas / Perdidas)</a:t>
              </a:r>
              <a:br>
                <a:rPr b="0" lang="pt-BR" sz="736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Por Gladiador ou Usuário</a:t>
              </a:r>
              <a:br>
                <a:rPr b="0" lang="pt-BR" sz="736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Ranking Global</a:t>
              </a:r>
              <a:endParaRPr b="0" sz="736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9" name="Google Shape;79;p14"/>
          <p:cNvGrpSpPr/>
          <p:nvPr/>
        </p:nvGrpSpPr>
        <p:grpSpPr>
          <a:xfrm>
            <a:off x="3000300" y="2009788"/>
            <a:ext cx="333525" cy="76200"/>
            <a:chOff x="2952750" y="2009775"/>
            <a:chExt cx="333525" cy="76200"/>
          </a:xfrm>
        </p:grpSpPr>
        <p:sp>
          <p:nvSpPr>
            <p:cNvPr id="80" name="Google Shape;80;p14"/>
            <p:cNvSpPr/>
            <p:nvPr/>
          </p:nvSpPr>
          <p:spPr>
            <a:xfrm>
              <a:off x="2952750" y="2047875"/>
              <a:ext cx="3144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chemeClr val="dk1"/>
            </a:solidFill>
            <a:ln cap="rnd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F172A"/>
                </a:solidFill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3228975" y="200977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F172A"/>
                </a:solidFill>
              </a:endParaRPr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5810175" y="2009775"/>
            <a:ext cx="333525" cy="76200"/>
            <a:chOff x="5762625" y="2009775"/>
            <a:chExt cx="333525" cy="76200"/>
          </a:xfrm>
        </p:grpSpPr>
        <p:sp>
          <p:nvSpPr>
            <p:cNvPr id="83" name="Google Shape;83;p14"/>
            <p:cNvSpPr/>
            <p:nvPr/>
          </p:nvSpPr>
          <p:spPr>
            <a:xfrm>
              <a:off x="5762625" y="2047875"/>
              <a:ext cx="3144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6038850" y="200977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" name="Google Shape;85;p14"/>
          <p:cNvGrpSpPr/>
          <p:nvPr/>
        </p:nvGrpSpPr>
        <p:grpSpPr>
          <a:xfrm>
            <a:off x="7953125" y="2814650"/>
            <a:ext cx="76200" cy="333525"/>
            <a:chOff x="4533900" y="2762250"/>
            <a:chExt cx="76200" cy="333525"/>
          </a:xfrm>
        </p:grpSpPr>
        <p:sp>
          <p:nvSpPr>
            <p:cNvPr id="86" name="Google Shape;86;p14"/>
            <p:cNvSpPr/>
            <p:nvPr/>
          </p:nvSpPr>
          <p:spPr>
            <a:xfrm>
              <a:off x="4572000" y="2762250"/>
              <a:ext cx="0" cy="314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4533900" y="3038475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4"/>
          <p:cNvGrpSpPr/>
          <p:nvPr/>
        </p:nvGrpSpPr>
        <p:grpSpPr>
          <a:xfrm rot="10800000">
            <a:off x="5787513" y="3890708"/>
            <a:ext cx="333558" cy="76200"/>
            <a:chOff x="5762625" y="2009775"/>
            <a:chExt cx="333525" cy="76200"/>
          </a:xfrm>
        </p:grpSpPr>
        <p:sp>
          <p:nvSpPr>
            <p:cNvPr id="89" name="Google Shape;89;p14"/>
            <p:cNvSpPr/>
            <p:nvPr/>
          </p:nvSpPr>
          <p:spPr>
            <a:xfrm>
              <a:off x="5762625" y="2047875"/>
              <a:ext cx="3144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6038850" y="200977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5810175" y="2009798"/>
            <a:ext cx="333525" cy="76200"/>
            <a:chOff x="2952750" y="2009775"/>
            <a:chExt cx="333525" cy="76200"/>
          </a:xfrm>
        </p:grpSpPr>
        <p:sp>
          <p:nvSpPr>
            <p:cNvPr id="92" name="Google Shape;92;p14"/>
            <p:cNvSpPr/>
            <p:nvPr/>
          </p:nvSpPr>
          <p:spPr>
            <a:xfrm>
              <a:off x="2952750" y="2047875"/>
              <a:ext cx="3144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chemeClr val="dk1"/>
            </a:solidFill>
            <a:ln cap="rnd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F172A"/>
                </a:solidFill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3228975" y="200977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F172A"/>
                </a:solidFill>
              </a:endParaRPr>
            </a:p>
          </p:txBody>
        </p:sp>
      </p:grpSp>
      <p:grpSp>
        <p:nvGrpSpPr>
          <p:cNvPr id="94" name="Google Shape;94;p14"/>
          <p:cNvGrpSpPr/>
          <p:nvPr/>
        </p:nvGrpSpPr>
        <p:grpSpPr>
          <a:xfrm rot="10800000">
            <a:off x="5787538" y="3890698"/>
            <a:ext cx="333525" cy="76200"/>
            <a:chOff x="2952750" y="2009775"/>
            <a:chExt cx="333525" cy="76200"/>
          </a:xfrm>
        </p:grpSpPr>
        <p:sp>
          <p:nvSpPr>
            <p:cNvPr id="95" name="Google Shape;95;p14"/>
            <p:cNvSpPr/>
            <p:nvPr/>
          </p:nvSpPr>
          <p:spPr>
            <a:xfrm>
              <a:off x="2952750" y="2047875"/>
              <a:ext cx="3144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chemeClr val="dk1"/>
            </a:solidFill>
            <a:ln cap="rnd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F172A"/>
                </a:solidFill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3228975" y="200977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F172A"/>
                </a:solidFill>
              </a:endParaRPr>
            </a:p>
          </p:txBody>
        </p:sp>
      </p:grpSp>
      <p:grpSp>
        <p:nvGrpSpPr>
          <p:cNvPr id="97" name="Google Shape;97;p14"/>
          <p:cNvGrpSpPr/>
          <p:nvPr/>
        </p:nvGrpSpPr>
        <p:grpSpPr>
          <a:xfrm rot="5400000">
            <a:off x="7824450" y="2943323"/>
            <a:ext cx="333525" cy="76200"/>
            <a:chOff x="2952750" y="2009775"/>
            <a:chExt cx="333525" cy="76200"/>
          </a:xfrm>
        </p:grpSpPr>
        <p:sp>
          <p:nvSpPr>
            <p:cNvPr id="98" name="Google Shape;98;p14"/>
            <p:cNvSpPr/>
            <p:nvPr/>
          </p:nvSpPr>
          <p:spPr>
            <a:xfrm>
              <a:off x="2952750" y="2047875"/>
              <a:ext cx="3144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chemeClr val="dk1"/>
            </a:solidFill>
            <a:ln cap="rnd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F172A"/>
                </a:solidFill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228975" y="2009775"/>
              <a:ext cx="57300" cy="762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F172A"/>
                </a:solidFill>
              </a:endParaRPr>
            </a:p>
          </p:txBody>
        </p:sp>
      </p:grpSp>
      <p:pic>
        <p:nvPicPr>
          <p:cNvPr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800" y="1323975"/>
            <a:ext cx="2400300" cy="144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4"/>
          <p:cNvGrpSpPr/>
          <p:nvPr/>
        </p:nvGrpSpPr>
        <p:grpSpPr>
          <a:xfrm>
            <a:off x="714375" y="1238250"/>
            <a:ext cx="2095500" cy="1381275"/>
            <a:chOff x="142875" y="-95250"/>
            <a:chExt cx="2095500" cy="1381275"/>
          </a:xfrm>
        </p:grpSpPr>
        <p:sp>
          <p:nvSpPr>
            <p:cNvPr id="102" name="Google Shape;102;p14"/>
            <p:cNvSpPr/>
            <p:nvPr/>
          </p:nvSpPr>
          <p:spPr>
            <a:xfrm>
              <a:off x="142875" y="-95250"/>
              <a:ext cx="1238400" cy="190500"/>
            </a:xfrm>
            <a:prstGeom prst="roundRect">
              <a:avLst>
                <a:gd fmla="val 2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90500" y="-762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rPr>
                <a:t>1. USUÁRIO</a:t>
              </a:r>
              <a:endParaRPr b="1" sz="8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42875" y="238125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53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Cadastro de Registros</a:t>
              </a:r>
              <a:endParaRPr b="1" sz="853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Todo usuário registrado possui uma carteira única de gladiadores vinculados ao seu perfil.</a:t>
              </a:r>
              <a:b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br>
                <a:rPr b="0" lang="pt-BR" sz="736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Nome de Usuário</a:t>
              </a:r>
              <a:br>
                <a:rPr b="0" lang="pt-BR" sz="736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E-mail</a:t>
              </a:r>
              <a:br>
                <a:rPr b="0" lang="pt-BR" sz="736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0" lang="pt-BR" sz="736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Senha criptografada</a:t>
              </a:r>
              <a:endParaRPr b="0" sz="736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736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 Créditos </a:t>
              </a:r>
              <a:endParaRPr sz="736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36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crumpled and creased paper poster texture background (Fornecido por Getty Images)" id="109" name="Google Shape;10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  <p:grpSp>
        <p:nvGrpSpPr>
          <p:cNvPr id="110" name="Google Shape;110;p15"/>
          <p:cNvGrpSpPr/>
          <p:nvPr/>
        </p:nvGrpSpPr>
        <p:grpSpPr>
          <a:xfrm>
            <a:off x="571500" y="620725"/>
            <a:ext cx="8001000" cy="666825"/>
            <a:chOff x="0" y="0"/>
            <a:chExt cx="8001000" cy="666825"/>
          </a:xfrm>
        </p:grpSpPr>
        <p:sp>
          <p:nvSpPr>
            <p:cNvPr id="111" name="Google Shape;111;p15"/>
            <p:cNvSpPr txBox="1"/>
            <p:nvPr/>
          </p:nvSpPr>
          <p:spPr>
            <a:xfrm>
              <a:off x="0" y="0"/>
              <a:ext cx="800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200">
                  <a:solidFill>
                    <a:srgbClr val="38761D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Batalha de Gladiadores</a:t>
              </a:r>
              <a:endParaRPr sz="1200">
                <a:solidFill>
                  <a:srgbClr val="38761D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t/>
              </a:r>
              <a:endParaRPr sz="100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0" y="238125"/>
              <a:ext cx="800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2400">
                  <a:solidFill>
                    <a:srgbClr val="134F5C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Painel do Usuário: Ações e Recursos</a:t>
              </a:r>
              <a:endParaRPr b="0" sz="2400">
                <a:solidFill>
                  <a:srgbClr val="134F5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113" name="Google Shape;113;p15"/>
          <p:cNvGrpSpPr/>
          <p:nvPr/>
        </p:nvGrpSpPr>
        <p:grpSpPr>
          <a:xfrm>
            <a:off x="571500" y="1428750"/>
            <a:ext cx="2400300" cy="2952900"/>
            <a:chOff x="0" y="0"/>
            <a:chExt cx="2400300" cy="2952900"/>
          </a:xfrm>
        </p:grpSpPr>
        <p:sp>
          <p:nvSpPr>
            <p:cNvPr id="114" name="Google Shape;114;p15"/>
            <p:cNvSpPr/>
            <p:nvPr/>
          </p:nvSpPr>
          <p:spPr>
            <a:xfrm>
              <a:off x="0" y="0"/>
              <a:ext cx="2400300" cy="2952900"/>
            </a:xfrm>
            <a:prstGeom prst="roundRect">
              <a:avLst>
                <a:gd fmla="val 317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0" y="0"/>
              <a:ext cx="2400300" cy="381000"/>
            </a:xfrm>
            <a:prstGeom prst="roundRect">
              <a:avLst>
                <a:gd fmla="val 2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90500"/>
              <a:ext cx="2400300" cy="1905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142875" y="95250"/>
              <a:ext cx="2114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pt-BR" sz="1200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Conta e Créditos</a:t>
              </a:r>
              <a:endParaRPr b="1" sz="12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142875" y="523875"/>
              <a:ext cx="21147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850">
                  <a:solidFill>
                    <a:srgbClr val="38BDF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Gestão de Recursos</a:t>
              </a:r>
              <a:endParaRPr b="0" sz="8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pt-BR" sz="80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Cadastro de Registros: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Criação de perfil</a:t>
              </a:r>
              <a:endParaRPr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contendo nome de usuário, e-mail e senha criptografada.</a:t>
              </a:r>
              <a:endParaRPr b="0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pt-BR" sz="80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Carteira de Créditos: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Todo novo usuário inicia com um </a:t>
              </a:r>
              <a:r>
                <a:rPr b="1" lang="pt-BR" sz="800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montante base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de créditos.</a:t>
              </a:r>
              <a:endParaRPr b="0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pt-BR" sz="80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Acúmulo por Vitória: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Novos créditos são </a:t>
              </a:r>
              <a:r>
                <a:rPr b="1" lang="pt-BR" sz="800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somados automaticamente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ao saldo a cada vitória conquistada na arena.</a:t>
              </a:r>
              <a:endParaRPr b="0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9" name="Google Shape;119;p15"/>
          <p:cNvGrpSpPr/>
          <p:nvPr/>
        </p:nvGrpSpPr>
        <p:grpSpPr>
          <a:xfrm>
            <a:off x="3371850" y="1428750"/>
            <a:ext cx="2400300" cy="2952900"/>
            <a:chOff x="0" y="0"/>
            <a:chExt cx="2400300" cy="2952900"/>
          </a:xfrm>
        </p:grpSpPr>
        <p:sp>
          <p:nvSpPr>
            <p:cNvPr id="120" name="Google Shape;120;p15"/>
            <p:cNvSpPr/>
            <p:nvPr/>
          </p:nvSpPr>
          <p:spPr>
            <a:xfrm>
              <a:off x="0" y="0"/>
              <a:ext cx="2400300" cy="2952900"/>
            </a:xfrm>
            <a:prstGeom prst="roundRect">
              <a:avLst>
                <a:gd fmla="val 317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0" y="0"/>
              <a:ext cx="2400300" cy="381000"/>
            </a:xfrm>
            <a:prstGeom prst="roundRect">
              <a:avLst>
                <a:gd fmla="val 2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0" y="190500"/>
              <a:ext cx="2400300" cy="19050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142875" y="95250"/>
              <a:ext cx="2114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pt-BR" sz="1200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Gerir Gladiadores</a:t>
              </a:r>
              <a:endParaRPr b="1" sz="12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142875" y="523875"/>
              <a:ext cx="21147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850">
                  <a:solidFill>
                    <a:srgbClr val="38BDF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Criação &amp; Customização</a:t>
              </a:r>
              <a:endParaRPr b="0" sz="8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pt-BR" sz="80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Vínculo Exclusivo: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Todo usuário registrado possui sua própria carteira de combatentes exclusivos.</a:t>
              </a:r>
              <a:endParaRPr b="0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pt-BR" sz="80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Criar Gladiadores: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Gaste seus créditos para recrutar novos guerreiros gerados com </a:t>
              </a:r>
              <a:r>
                <a:rPr b="1" lang="pt-BR" sz="800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atributos de luta aleatórios e descrições do próprio usuário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endParaRPr b="0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pt-BR" sz="80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Exclusão (Morte):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Remova combatentes inativos ou dispense gladiadores que caíram em combate da sua lista ativa.</a:t>
              </a:r>
              <a:endParaRPr b="0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6172200" y="1428750"/>
            <a:ext cx="2400300" cy="2952900"/>
            <a:chOff x="0" y="0"/>
            <a:chExt cx="2400300" cy="2952900"/>
          </a:xfrm>
        </p:grpSpPr>
        <p:sp>
          <p:nvSpPr>
            <p:cNvPr id="126" name="Google Shape;126;p15"/>
            <p:cNvSpPr/>
            <p:nvPr/>
          </p:nvSpPr>
          <p:spPr>
            <a:xfrm>
              <a:off x="0" y="0"/>
              <a:ext cx="2400300" cy="2952900"/>
            </a:xfrm>
            <a:prstGeom prst="roundRect">
              <a:avLst>
                <a:gd fmla="val 317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0" y="0"/>
              <a:ext cx="2400300" cy="381000"/>
            </a:xfrm>
            <a:prstGeom prst="roundRect">
              <a:avLst>
                <a:gd fmla="val 2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0" y="190500"/>
              <a:ext cx="2400300" cy="1905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142875" y="95250"/>
              <a:ext cx="2114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pt-BR" sz="1200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Sistema de Busca</a:t>
              </a:r>
              <a:endParaRPr b="1" sz="12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142875" y="523875"/>
              <a:ext cx="21147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850">
                  <a:solidFill>
                    <a:srgbClr val="38BDF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Pesquisa e Estatísticas</a:t>
              </a:r>
              <a:endParaRPr b="0" sz="8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pt-BR" sz="80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Outros Usuários: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Localize perfis rivais e inspecione suas respectivas carteiras de combatentes.</a:t>
              </a:r>
              <a:endParaRPr b="0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pt-BR" sz="80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Ranking Global: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Monitore a tabela de classificação dos gladiadores mais eficientes e temidos da temporada.</a:t>
              </a:r>
              <a:endParaRPr b="0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•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pt-BR" sz="80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Histórico de Combates:</a:t>
              </a:r>
              <a:r>
                <a:rPr b="0" lang="pt-BR" sz="8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Analise relatórios detalhados de lutas anteriores, tanto de usuários quanto de gladiadores.</a:t>
              </a:r>
              <a:endParaRPr b="0" sz="8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crumpled and creased paper poster texture background (Fornecido por Getty Images)" id="135" name="Google Shape;13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39475" y="580700"/>
            <a:ext cx="800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rgbClr val="38761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Batalha de Gladiadores</a:t>
            </a:r>
            <a:endParaRPr sz="1200">
              <a:solidFill>
                <a:srgbClr val="38761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pt-BR" sz="2400">
                <a:solidFill>
                  <a:srgbClr val="134F5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 que os Gladiadores Fazem?</a:t>
            </a:r>
            <a:endParaRPr b="0" sz="2400">
              <a:solidFill>
                <a:srgbClr val="134F5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37" name="Google Shape;137;p16"/>
          <p:cNvGrpSpPr/>
          <p:nvPr/>
        </p:nvGrpSpPr>
        <p:grpSpPr>
          <a:xfrm>
            <a:off x="571500" y="1428750"/>
            <a:ext cx="3810000" cy="2952900"/>
            <a:chOff x="0" y="0"/>
            <a:chExt cx="3810000" cy="2952900"/>
          </a:xfrm>
        </p:grpSpPr>
        <p:sp>
          <p:nvSpPr>
            <p:cNvPr id="138" name="Google Shape;138;p16"/>
            <p:cNvSpPr/>
            <p:nvPr/>
          </p:nvSpPr>
          <p:spPr>
            <a:xfrm>
              <a:off x="0" y="0"/>
              <a:ext cx="3810000" cy="2952900"/>
            </a:xfrm>
            <a:prstGeom prst="roundRect">
              <a:avLst>
                <a:gd fmla="val 258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0" y="0"/>
              <a:ext cx="3810000" cy="381000"/>
            </a:xfrm>
            <a:prstGeom prst="roundRect">
              <a:avLst>
                <a:gd fmla="val 2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0" y="190500"/>
              <a:ext cx="3810000" cy="19050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190500" y="95250"/>
              <a:ext cx="3429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pt-BR" sz="1300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Dinâmica de Combate</a:t>
              </a:r>
              <a:endParaRPr b="1" sz="13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190500" y="523875"/>
              <a:ext cx="3429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950">
                  <a:solidFill>
                    <a:srgbClr val="38BDF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Batalhas na Arena</a:t>
              </a:r>
              <a:endParaRPr b="0" sz="9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850"/>
                <a:buFont typeface="Montserrat"/>
                <a:buChar char="●"/>
              </a:pP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Os gladiadores </a:t>
              </a:r>
              <a:r>
                <a:rPr b="0" i="0" lang="pt-BR" sz="85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batalham diretamente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contra outros oponentes em combates estratégicos pela glória e sobrevivência.</a:t>
              </a:r>
              <a:endParaRPr b="0" i="0" sz="85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850"/>
                <a:buFont typeface="Montserrat"/>
                <a:buChar char="●"/>
              </a:pPr>
              <a:r>
                <a:rPr b="1" i="0" lang="pt-BR" sz="850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caso de vitória: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O usuário ganha preciosos </a:t>
              </a:r>
              <a:r>
                <a:rPr b="1" i="0" lang="pt-BR" sz="850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Créditos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adicionais e o guerreiro soma </a:t>
              </a:r>
              <a:r>
                <a:rPr b="1" i="0" lang="pt-BR" sz="850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+1 vitória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em seu registro oficial.</a:t>
              </a:r>
              <a:endParaRPr b="0" i="0" sz="85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94A3B8"/>
                </a:buClr>
                <a:buSzPts val="850"/>
                <a:buFont typeface="Montserrat"/>
                <a:buChar char="●"/>
              </a:pPr>
              <a:r>
                <a:rPr b="1" i="0" lang="pt-BR" sz="85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caso de derrota: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O gladiador não resiste aos ferimentos e </a:t>
              </a:r>
              <a:r>
                <a:rPr b="1" i="0" lang="pt-BR" sz="85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retorna como morto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sendo retirado da lista ativa do usuário.</a:t>
              </a:r>
              <a:endParaRPr b="0" i="0" sz="85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3" name="Google Shape;143;p16"/>
          <p:cNvGrpSpPr/>
          <p:nvPr/>
        </p:nvGrpSpPr>
        <p:grpSpPr>
          <a:xfrm>
            <a:off x="4762500" y="1428750"/>
            <a:ext cx="3810000" cy="2952900"/>
            <a:chOff x="0" y="0"/>
            <a:chExt cx="3810000" cy="2952900"/>
          </a:xfrm>
        </p:grpSpPr>
        <p:sp>
          <p:nvSpPr>
            <p:cNvPr id="144" name="Google Shape;144;p16"/>
            <p:cNvSpPr/>
            <p:nvPr/>
          </p:nvSpPr>
          <p:spPr>
            <a:xfrm>
              <a:off x="0" y="0"/>
              <a:ext cx="3810000" cy="2952900"/>
            </a:xfrm>
            <a:prstGeom prst="roundRect">
              <a:avLst>
                <a:gd fmla="val 258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0" y="0"/>
              <a:ext cx="3810000" cy="381000"/>
            </a:xfrm>
            <a:prstGeom prst="roundRect">
              <a:avLst>
                <a:gd fmla="val 2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0" y="190500"/>
              <a:ext cx="3810000" cy="1905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190500" y="95250"/>
              <a:ext cx="3429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pt-BR" sz="1300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Atributos &amp; Ficha Técnica</a:t>
              </a:r>
              <a:endParaRPr b="1" sz="13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190500" y="523875"/>
              <a:ext cx="3429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950">
                  <a:solidFill>
                    <a:srgbClr val="38BDF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Definições do Combatente</a:t>
              </a:r>
              <a:endParaRPr b="0" sz="9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850"/>
                <a:buFont typeface="Montserrat"/>
                <a:buChar char="●"/>
              </a:pPr>
              <a:r>
                <a:rPr b="0" i="0" lang="pt-BR" sz="85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Nome Único: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Cada guerreiro possui uma identidade própria definida pelo usuário no momento do recrutamento.</a:t>
              </a:r>
              <a:endParaRPr b="0" i="0" sz="85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850"/>
                <a:buFont typeface="Montserrat"/>
                <a:buChar char="●"/>
              </a:pPr>
              <a:r>
                <a:rPr b="0" i="0" lang="pt-BR" sz="85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Status Vital: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Monitoramento em tempo real do estado de atividade do gladiador, classificado entre </a:t>
              </a:r>
              <a:r>
                <a:rPr b="1" i="0" lang="pt-BR" sz="850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Vivo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ou </a:t>
              </a:r>
              <a:r>
                <a:rPr b="1" i="0" lang="pt-BR" sz="85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Morto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endParaRPr b="0" i="0" sz="85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850"/>
                <a:buFont typeface="Montserrat"/>
                <a:buChar char="●"/>
              </a:pPr>
              <a:r>
                <a:rPr b="0" i="0" lang="pt-BR" sz="85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Descrição Personalizada: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Biografia e características detalhadas escritas livremente pelo respectivo proprietário.</a:t>
              </a:r>
              <a:endParaRPr b="0" i="0" sz="85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8257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94A3B8"/>
                </a:buClr>
                <a:buSzPts val="850"/>
                <a:buFont typeface="Montserrat"/>
                <a:buChar char="●"/>
              </a:pPr>
              <a:r>
                <a:rPr b="0" i="0" lang="pt-BR" sz="850">
                  <a:solidFill>
                    <a:srgbClr val="F8FAF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Batalhas Vencidas:</a:t>
              </a:r>
              <a:r>
                <a:rPr b="0" i="0" lang="pt-BR" sz="85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Histórico acumulado que exibe o total de vitórias conquistadas pelo combatente ao longo de sua trajetória.</a:t>
              </a:r>
              <a:endParaRPr b="0" i="0" sz="85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